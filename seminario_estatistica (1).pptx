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Yasmin Victoria Ferreira Monteir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01EDF9-063A-4456-B560-285E2E967854}">
  <a:tblStyle styleId="{CA01EDF9-063A-4456-B560-285E2E96785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9T20:08:30.572">
    <p:pos x="6000" y="0"/>
    <p:text>PARTE YAS AGHATA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8-29T20:08:10.405">
    <p:pos x="6000" y="0"/>
    <p:text>PARTE YAS SANTOS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8-29T20:07:36.960">
    <p:pos x="6000" y="0"/>
    <p:text>MINHA PARTE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2.xm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3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6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4617720"/>
            <a:ext cx="12188952" cy="2240280"/>
          </a:xfrm>
          <a:prstGeom prst="rect">
            <a:avLst/>
          </a:prstGeom>
          <a:solidFill>
            <a:srgbClr val="142F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9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FB96B"/>
                </a:solidFill>
                <a:latin typeface="Calibri"/>
                <a:ea typeface="Calibri"/>
                <a:cs typeface="Calibri"/>
                <a:sym typeface="Calibri"/>
              </a:rPr>
              <a:t>LCE0212</a:t>
            </a:r>
            <a:r>
              <a:rPr b="1" i="0" lang="en-US" sz="1400" u="none" cap="none" strike="noStrike">
                <a:solidFill>
                  <a:srgbClr val="8FB96B"/>
                </a:solidFill>
                <a:latin typeface="Calibri"/>
                <a:ea typeface="Calibri"/>
                <a:cs typeface="Calibri"/>
                <a:sym typeface="Calibri"/>
              </a:rPr>
              <a:t> · AVALIAÇÃO DE ESTATÍSTICA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1828800"/>
            <a:ext cx="10241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Estatística Aplicada à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Ciência dos Alimentos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96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FB96B"/>
                </a:solidFill>
                <a:latin typeface="Calibri"/>
                <a:ea typeface="Calibri"/>
                <a:cs typeface="Calibri"/>
                <a:sym typeface="Calibri"/>
              </a:rPr>
              <a:t>Seminário 01 — Conceitos estatísticos, gráficos e análises construídos em Python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50749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Yasmin Agatha Acosta  ·  16905367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822960" y="54132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Yasmin Almeida  ·  16992205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822960" y="575157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Yasmin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Victória Ferreira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Monteiro  ·  17068161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0607040" y="5029200"/>
            <a:ext cx="292500" cy="292500"/>
          </a:xfrm>
          <a:prstGeom prst="ellipse">
            <a:avLst/>
          </a:prstGeom>
          <a:solidFill>
            <a:srgbClr val="D98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1064240" y="5577840"/>
            <a:ext cx="182880" cy="182880"/>
          </a:xfrm>
          <a:prstGeom prst="ellipse">
            <a:avLst/>
          </a:prstGeom>
          <a:solidFill>
            <a:srgbClr val="D98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0474420" y="5559498"/>
            <a:ext cx="219600" cy="219600"/>
          </a:xfrm>
          <a:prstGeom prst="ellipse">
            <a:avLst/>
          </a:prstGeom>
          <a:solidFill>
            <a:srgbClr val="D98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1184400" y="5221230"/>
            <a:ext cx="146400" cy="146400"/>
          </a:xfrm>
          <a:prstGeom prst="ellipse">
            <a:avLst/>
          </a:prstGeom>
          <a:solidFill>
            <a:srgbClr val="D98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ESTRUTURA DO TRABALHO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O que este seminário apresenta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Seis técnicas estatísticas aplicadas a cenários de </a:t>
            </a:r>
            <a:r>
              <a:rPr b="1" i="0" lang="en-US" sz="13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controle de qualidade e desenvolvimento de produtos alimentícios</a:t>
            </a:r>
            <a:r>
              <a:rPr b="0" i="0" lang="en-US" sz="13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, cada uma construída em Python a partir de dados simulados de forma realista.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0080" y="2011680"/>
            <a:ext cx="5257800" cy="1207008"/>
          </a:xfrm>
          <a:prstGeom prst="roundRect">
            <a:avLst>
              <a:gd fmla="val 6818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41248" y="2231136"/>
            <a:ext cx="457200" cy="457200"/>
          </a:xfrm>
          <a:prstGeom prst="ellipse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841248" y="22311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1463040" y="2139696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Controle Estatístico de Processo (CEP)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463040" y="2523744"/>
            <a:ext cx="4251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Cartas de controle e índices de capacidade (Cp/Cpk) no envase de requeijão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263640" y="2011680"/>
            <a:ext cx="5257800" cy="1207008"/>
          </a:xfrm>
          <a:prstGeom prst="roundRect">
            <a:avLst>
              <a:gd fmla="val 6818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464808" y="2231136"/>
            <a:ext cx="457200" cy="457200"/>
          </a:xfrm>
          <a:prstGeom prst="ellipse">
            <a:avLst/>
          </a:prstGeom>
          <a:solidFill>
            <a:srgbClr val="5C8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6464808" y="22311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7086600" y="2139696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Teste Triangular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7086600" y="2523744"/>
            <a:ext cx="4251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Análise sensorial discriminativa via distribuição Binomial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0080" y="3474720"/>
            <a:ext cx="5257800" cy="1207008"/>
          </a:xfrm>
          <a:prstGeom prst="roundRect">
            <a:avLst>
              <a:gd fmla="val 6818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41248" y="3694176"/>
            <a:ext cx="457200" cy="457200"/>
          </a:xfrm>
          <a:prstGeom prst="ellipse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841248" y="36941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1463040" y="3602736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Teste Hedônico + ANOVA/Tukey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1463040" y="3986784"/>
            <a:ext cx="4251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Comparação de aceitação entre 4 formulações de suco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263640" y="3474720"/>
            <a:ext cx="5257800" cy="1207008"/>
          </a:xfrm>
          <a:prstGeom prst="roundRect">
            <a:avLst>
              <a:gd fmla="val 6818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464808" y="3694176"/>
            <a:ext cx="457200" cy="457200"/>
          </a:xfrm>
          <a:prstGeom prst="ellipse">
            <a:avLst/>
          </a:prstGeom>
          <a:solidFill>
            <a:srgbClr val="5C8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6464808" y="36941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7086600" y="3602736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PCA (Componentes Principais)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086600" y="3986784"/>
            <a:ext cx="4251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Mapa sensorial multivariado de marcas de queijo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0080" y="4937760"/>
            <a:ext cx="5257800" cy="1207008"/>
          </a:xfrm>
          <a:prstGeom prst="roundRect">
            <a:avLst>
              <a:gd fmla="val 6818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841248" y="5157216"/>
            <a:ext cx="457200" cy="457200"/>
          </a:xfrm>
          <a:prstGeom prst="ellipse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 txBox="1"/>
          <p:nvPr/>
        </p:nvSpPr>
        <p:spPr>
          <a:xfrm>
            <a:off x="841248" y="51572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463040" y="5065776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Shelf-Life &amp; Cinética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463040" y="5449824"/>
            <a:ext cx="4251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Regressão linear para degradação de Vitamina C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263640" y="4937760"/>
            <a:ext cx="5257800" cy="1207008"/>
          </a:xfrm>
          <a:prstGeom prst="roundRect">
            <a:avLst>
              <a:gd fmla="val 6818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464808" y="5157216"/>
            <a:ext cx="457200" cy="457200"/>
          </a:xfrm>
          <a:prstGeom prst="ellipse">
            <a:avLst/>
          </a:prstGeom>
          <a:solidFill>
            <a:srgbClr val="5C8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 txBox="1"/>
          <p:nvPr/>
        </p:nvSpPr>
        <p:spPr>
          <a:xfrm>
            <a:off x="6464808" y="51572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086600" y="5065776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DOE Fatorial 2³ + Pareto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086600" y="5449824"/>
            <a:ext cx="4251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Planejamento de experimentos e priorização de defeitos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METODOLOGIA GERAL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1234440" y="731532"/>
            <a:ext cx="960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Origem dos dados e ferramentas em Python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640080" y="137160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Origem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640075" y="1645923"/>
            <a:ext cx="52122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Todos os conjuntos de dados foram simulados, a partir de parâmetros (médias, desvios-padrão, faixas) plausíveis para cada processo ou atributo sensorial real. Uma semente (seed) fixa foi definida em cada simulação para garantir a reprodutibilidade dos resultados.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640080" y="320040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Por que dados simulados?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640080" y="3474720"/>
            <a:ext cx="5212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A simulação permite ilustrar, de forma controlada, o comportamento esperado de cada técnica estatística (variação em torno de uma média, efeito de fatores, tendência de degradação), sem depender de coleta experimental para fins didáticos do seminário.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6263640" y="137160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Bibliotecas utilizadas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263640" y="1700784"/>
            <a:ext cx="5303400" cy="567000"/>
          </a:xfrm>
          <a:prstGeom prst="roundRect">
            <a:avLst>
              <a:gd fmla="val 9677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 txBox="1"/>
          <p:nvPr/>
        </p:nvSpPr>
        <p:spPr>
          <a:xfrm>
            <a:off x="6309365" y="1755648"/>
            <a:ext cx="315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Simulação e estruturação dos dados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263640" y="2359152"/>
            <a:ext cx="5303520" cy="566928"/>
          </a:xfrm>
          <a:prstGeom prst="roundRect">
            <a:avLst>
              <a:gd fmla="val 9677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6309365" y="2414016"/>
            <a:ext cx="315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Construção dos gráficos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263640" y="3017520"/>
            <a:ext cx="5303520" cy="566928"/>
          </a:xfrm>
          <a:prstGeom prst="roundRect">
            <a:avLst>
              <a:gd fmla="val 9677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6309365" y="3072384"/>
            <a:ext cx="315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Testes estatísticos (binomial, ANOVA, regressão)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263640" y="3675888"/>
            <a:ext cx="5303520" cy="566928"/>
          </a:xfrm>
          <a:prstGeom prst="roundRect">
            <a:avLst>
              <a:gd fmla="val 9677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 txBox="1"/>
          <p:nvPr/>
        </p:nvSpPr>
        <p:spPr>
          <a:xfrm>
            <a:off x="6309365" y="3730752"/>
            <a:ext cx="315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ANOVA, Tukey HSD e regressão múltipla (DOE)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263640" y="4334256"/>
            <a:ext cx="5303520" cy="566928"/>
          </a:xfrm>
          <a:prstGeom prst="roundRect">
            <a:avLst>
              <a:gd fmla="val 9677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 txBox="1"/>
          <p:nvPr/>
        </p:nvSpPr>
        <p:spPr>
          <a:xfrm>
            <a:off x="6309365" y="4389120"/>
            <a:ext cx="315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Padronização de dados e PCA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8397750" y="1833188"/>
            <a:ext cx="175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USDA — FoodData Central</a:t>
            </a:r>
            <a:endParaRPr b="1" sz="1000">
              <a:solidFill>
                <a:srgbClr val="1E46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2115325" y="413125"/>
            <a:ext cx="544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7772400" y="2473300"/>
            <a:ext cx="350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TACO — Tabela Brasileira de Composição de Alimentos </a:t>
            </a:r>
            <a:endParaRPr b="1" sz="1000">
              <a:solidFill>
                <a:srgbClr val="1E46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8973425" y="3054688"/>
            <a:ext cx="248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Guia Alimentar para a População Brasileira (Classificação NOVA) </a:t>
            </a:r>
            <a:endParaRPr b="1" sz="1000">
              <a:solidFill>
                <a:srgbClr val="1E46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8899100" y="3713038"/>
            <a:ext cx="248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IBGE / POF — Tabela de Composição de Alimentos Consumidos no Brasil </a:t>
            </a:r>
            <a:endParaRPr b="1" sz="1000">
              <a:solidFill>
                <a:srgbClr val="1E46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8034000" y="4448375"/>
            <a:ext cx="324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Estatística na Ciência e Indústria de Alimentos.</a:t>
            </a:r>
            <a:r>
              <a:rPr b="1" lang="en-US" sz="1000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000">
              <a:solidFill>
                <a:srgbClr val="1E46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CONTROLE ESTATÍSTICO DE PROCESSO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1234440" y="6400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CEP no envase de requeijão (200 g)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640080" y="14173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640080" y="169164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Simulação do peso líquido de uma linha automatizada de envase de requeijão, com valor nominal de 200 g (padrão metrológico INMETRO).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640080" y="24688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Variável analisada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640080" y="27432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Peso líquido (g) — variável </a:t>
            </a:r>
            <a:r>
              <a:rPr b="1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quantitativa contínua</a:t>
            </a: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25 subgrupos de n = 5 amostras (125 observações). </a:t>
            </a:r>
            <a:b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Para cada subgrupo, calculam-se a média (</a:t>
            </a:r>
            <a:r>
              <a:rPr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X̄</a:t>
            </a: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) e a amplitude (R).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640080" y="37947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Construção do gráfico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640080" y="40690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Carta de controle X-barra: Linha Média (LM) e Limites de Controle (LSC/LIC) obtidos com a constante A2 = 0,577 (n = 5), aplicada à amplitude média dos subgrupos.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ll3_0.png"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417320"/>
            <a:ext cx="5577840" cy="238658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5989320" y="1417320"/>
            <a:ext cx="5577840" cy="2386584"/>
          </a:xfrm>
          <a:prstGeom prst="roundRect">
            <a:avLst>
              <a:gd fmla="val 1533" name="adj"/>
            </a:avLst>
          </a:prstGeom>
          <a:noFill/>
          <a:ln cap="flat" cmpd="sng" w="12700">
            <a:solidFill>
              <a:srgbClr val="E7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5989320" y="3977640"/>
            <a:ext cx="1755648" cy="868680"/>
          </a:xfrm>
          <a:prstGeom prst="roundRect">
            <a:avLst>
              <a:gd fmla="val 8421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6080760" y="4050792"/>
            <a:ext cx="1572768" cy="477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200,41 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6080760" y="4498848"/>
            <a:ext cx="1572768" cy="330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Linha Média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872984" y="3977640"/>
            <a:ext cx="1755648" cy="868680"/>
          </a:xfrm>
          <a:prstGeom prst="roundRect">
            <a:avLst>
              <a:gd fmla="val 8421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7964424" y="4050792"/>
            <a:ext cx="1572768" cy="477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201,98 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7964424" y="4498848"/>
            <a:ext cx="1572768" cy="330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LSC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9756648" y="3977640"/>
            <a:ext cx="1755648" cy="868680"/>
          </a:xfrm>
          <a:prstGeom prst="roundRect">
            <a:avLst>
              <a:gd fmla="val 8421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9848088" y="4050792"/>
            <a:ext cx="1572768" cy="477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198,85 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9848088" y="4498848"/>
            <a:ext cx="1572768" cy="330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LIC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5989320" y="502920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Todos os 25 pontos permanecem dentro dos limites de controle → processo estatisticamente sob controle.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CONTROLE ESTATÍSTICO DE PROCESSO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1234440" y="6400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Capacidade do processo (Cp/Cpk)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Limites de especificação: LIE = 198,0 g   |   LSE = 203,0 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0080" y="1737360"/>
            <a:ext cx="1691640" cy="960120"/>
          </a:xfrm>
          <a:prstGeom prst="roundRect">
            <a:avLst>
              <a:gd fmla="val 7619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731520" y="1810512"/>
            <a:ext cx="1508760" cy="5280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1,168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731520" y="2313432"/>
            <a:ext cx="1508760" cy="364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σ estimado (g)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2450592" y="1737360"/>
            <a:ext cx="1691640" cy="960120"/>
          </a:xfrm>
          <a:prstGeom prst="roundRect">
            <a:avLst>
              <a:gd fmla="val 7619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2542032" y="1810512"/>
            <a:ext cx="1508760" cy="5280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98324"/>
                </a:solidFill>
                <a:latin typeface="Cambria"/>
                <a:ea typeface="Cambria"/>
                <a:cs typeface="Cambria"/>
                <a:sym typeface="Cambria"/>
              </a:rPr>
              <a:t>0,71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2542032" y="2313432"/>
            <a:ext cx="1508760" cy="364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Índice Cp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261104" y="1737360"/>
            <a:ext cx="1691640" cy="960120"/>
          </a:xfrm>
          <a:prstGeom prst="roundRect">
            <a:avLst>
              <a:gd fmla="val 7619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4352544" y="1810512"/>
            <a:ext cx="1508760" cy="5280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98324"/>
                </a:solidFill>
                <a:latin typeface="Cambria"/>
                <a:ea typeface="Cambria"/>
                <a:cs typeface="Cambria"/>
                <a:sym typeface="Cambria"/>
              </a:rPr>
              <a:t>0,69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4352544" y="2313432"/>
            <a:ext cx="1508760" cy="364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Índice Cpk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0080" y="2880360"/>
            <a:ext cx="5212080" cy="1051560"/>
          </a:xfrm>
          <a:prstGeom prst="roundRect">
            <a:avLst>
              <a:gd fmla="val 6957" name="adj"/>
            </a:avLst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868680" y="2999232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Cpk (0,69) &lt; 1,33  →  o processo NÃO é capaz de atender consistentemente às especificações, apesar de estar sob controle estatístico.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40080" y="4160520"/>
            <a:ext cx="10927080" cy="2103120"/>
          </a:xfrm>
          <a:prstGeom prst="roundRect">
            <a:avLst>
              <a:gd fmla="val 3913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914400" y="4343400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Complemento: Teste Triangular (Análise Sensorial Discriminativa)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914400" y="4663440"/>
            <a:ext cx="6309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Contexto: verificar se consumidores percebem alteração de sabor após substituição do adoçante em uma bebida láctea.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Variável: resposta binária (acerto/erro) de cada provador frente a 3 amostras — segue distribuição Binomial, com probabilidade de acerto ao acaso p = 1/3.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452360" y="4617720"/>
            <a:ext cx="1280160" cy="1417320"/>
          </a:xfrm>
          <a:prstGeom prst="roundRect">
            <a:avLst>
              <a:gd fmla="val 5714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7543800" y="4690872"/>
            <a:ext cx="1097280" cy="7795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98324"/>
                </a:solidFill>
                <a:latin typeface="Cambria"/>
                <a:ea typeface="Cambria"/>
                <a:cs typeface="Cambria"/>
                <a:sym typeface="Cambria"/>
              </a:rPr>
              <a:t>36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7543800" y="5468112"/>
            <a:ext cx="1097280" cy="5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Provadores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851392" y="4617720"/>
            <a:ext cx="1280160" cy="1417320"/>
          </a:xfrm>
          <a:prstGeom prst="roundRect">
            <a:avLst>
              <a:gd fmla="val 5714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8942832" y="4690872"/>
            <a:ext cx="1097280" cy="7795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98324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8942832" y="5468112"/>
            <a:ext cx="1097280" cy="5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Acertos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0250424" y="4617720"/>
            <a:ext cx="1280160" cy="1417320"/>
          </a:xfrm>
          <a:prstGeom prst="roundRect">
            <a:avLst>
              <a:gd fmla="val 5714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10341864" y="4690872"/>
            <a:ext cx="1097280" cy="7795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98324"/>
                </a:solidFill>
                <a:latin typeface="Cambria"/>
                <a:ea typeface="Cambria"/>
                <a:cs typeface="Cambria"/>
                <a:sym typeface="Cambria"/>
              </a:rPr>
              <a:t>0,0283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10341864" y="5468112"/>
            <a:ext cx="1097280" cy="5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p-valor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914400" y="5989320"/>
            <a:ext cx="6309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p &lt; 0,05 → diferença perceptível significativa entre as amostras.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ANÁLISE SENSORIAL E SENSOMETRIA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1234440" y="6400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Teste hedônico, ANOVA e Tukey HSD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640080" y="14173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640080" y="169164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Comparação da aceitação global de 4 formulações de suco vegetal de caixinha: Controle (A), Redução de Sódio (B), Substituto de açúcar (C) e Enzima Nova (D).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640080" y="25146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Variável analisada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640080" y="278892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Nota hedônica (escala de 1 a 9) — variável quantitativa discreta/ordinal. n = 30 provadores por formulação (120 observações no total).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640080" y="3520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Análise aplicada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640080" y="379476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ANOVA one-way para testar diferença entre as médias das 4 formulações, seguida do teste de Tukey HSD para comparações múltiplas par a par.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ll5_0.png" id="177" name="Google Shape;1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9320" y="1417320"/>
            <a:ext cx="5577840" cy="309981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5989320" y="1417320"/>
            <a:ext cx="5577840" cy="3099816"/>
          </a:xfrm>
          <a:prstGeom prst="roundRect">
            <a:avLst>
              <a:gd fmla="val 1180" name="adj"/>
            </a:avLst>
          </a:prstGeom>
          <a:noFill/>
          <a:ln cap="flat" cmpd="sng" w="12700">
            <a:solidFill>
              <a:srgbClr val="E7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5989320" y="4544568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Box plot com pontos individuais: mediana, quartis e dispersão das notas por formulação.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ANÁLISE SENSORIAL E SENSOMETRIA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1234440" y="6400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Resultados: ANOVA e comparações de Tukey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40080" y="1417320"/>
            <a:ext cx="2606040" cy="914400"/>
          </a:xfrm>
          <a:prstGeom prst="roundRect">
            <a:avLst>
              <a:gd fmla="val 8000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731520" y="1490472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37,310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731520" y="19659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Estatística 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364992" y="1417320"/>
            <a:ext cx="2606040" cy="914400"/>
          </a:xfrm>
          <a:prstGeom prst="roundRect">
            <a:avLst>
              <a:gd fmla="val 8000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3456432" y="1490472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5,92×10⁻¹⁷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3456432" y="19659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p-valor (ANOVA)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640080" y="2450592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p-valor extremamente baixo → há diferença estatisticamente significativa entre as médias das 4 formulações.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640080" y="310896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Tabela — Teste de Tukey HSD (comparações par a par, α = 0,05)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" name="Google Shape;199;p9"/>
          <p:cNvGraphicFramePr/>
          <p:nvPr/>
        </p:nvGraphicFramePr>
        <p:xfrm>
          <a:off x="640080" y="3456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{CA01EDF9-063A-4456-B560-285E2E967854}</a:tableStyleId>
              </a:tblPr>
              <a:tblGrid>
                <a:gridCol w="2286000"/>
                <a:gridCol w="2743200"/>
                <a:gridCol w="2468875"/>
              </a:tblGrid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Comparação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6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Diferença significativa?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6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Conclusão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620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vs. B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 (p &lt; 0,05)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preferida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vs. 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 (p &gt; 0,05)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 diferença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vs. 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 (p &lt; 0,05)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 preferida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vs. 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 (p &lt; 0,05)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preferida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vs. 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 (p &gt; 0,05)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 diferença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 vs. 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 (p &lt; 0,05)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 preferida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</a:tr>
            </a:tbl>
          </a:graphicData>
        </a:graphic>
      </p:graphicFrame>
      <p:sp>
        <p:nvSpPr>
          <p:cNvPr id="200" name="Google Shape;200;p9"/>
          <p:cNvSpPr/>
          <p:nvPr/>
        </p:nvSpPr>
        <p:spPr>
          <a:xfrm>
            <a:off x="8366760" y="3456432"/>
            <a:ext cx="3200400" cy="2331720"/>
          </a:xfrm>
          <a:prstGeom prst="roundRect">
            <a:avLst>
              <a:gd fmla="val 3529" name="adj"/>
            </a:avLst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 txBox="1"/>
          <p:nvPr/>
        </p:nvSpPr>
        <p:spPr>
          <a:xfrm>
            <a:off x="8595360" y="3611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8595360" y="3931920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formulações B e D apresentam maior aceitação e não diferem significativamente entre si — ambas superiores a A e 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SENSOMETRIA MULTIVARIADA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1234440" y="6400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PCA — mapa sensorial de produtos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640080" y="14173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640080" y="169164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Comparação do perfil sensorial de 5 marcas comerciais de queijo (Alpha, Beta, Gamma, Delta, Epsilon).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640080" y="24231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Variáveis analisadas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640080" y="269748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5 atributos sensoriais quantitativos: Aroma Lácteo, Acidez, Firmeza, Cremosidade e Salgado, avaliados em cada amostra (escala 0-10).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640080" y="34290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Construção da análise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640080" y="3703320"/>
            <a:ext cx="5029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1) Padronização dos dados (Z-score, StandardScaler) para que todas as variáveis tenham o mesmo peso;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2) PCA com 2 componentes principais para reduzir a dimensionalidade e visualizar similaridades entre amostras.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40080" y="4617720"/>
            <a:ext cx="1673352" cy="777240"/>
          </a:xfrm>
          <a:prstGeom prst="roundRect">
            <a:avLst>
              <a:gd fmla="val 9412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 txBox="1"/>
          <p:nvPr/>
        </p:nvSpPr>
        <p:spPr>
          <a:xfrm>
            <a:off x="731520" y="4690872"/>
            <a:ext cx="1490472" cy="4274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98324"/>
                </a:solidFill>
                <a:latin typeface="Cambria"/>
                <a:ea typeface="Cambria"/>
                <a:cs typeface="Cambria"/>
                <a:sym typeface="Cambria"/>
              </a:rPr>
              <a:t>97,7%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731520" y="5084064"/>
            <a:ext cx="1490472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Var. PC1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2423160" y="4617720"/>
            <a:ext cx="1673352" cy="777240"/>
          </a:xfrm>
          <a:prstGeom prst="roundRect">
            <a:avLst>
              <a:gd fmla="val 9412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2514600" y="4690872"/>
            <a:ext cx="1490472" cy="4274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98324"/>
                </a:solidFill>
                <a:latin typeface="Cambria"/>
                <a:ea typeface="Cambria"/>
                <a:cs typeface="Cambria"/>
                <a:sym typeface="Cambria"/>
              </a:rPr>
              <a:t>2,1%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2514600" y="5084064"/>
            <a:ext cx="1490472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Var. PC2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206240" y="4617720"/>
            <a:ext cx="1673352" cy="777240"/>
          </a:xfrm>
          <a:prstGeom prst="roundRect">
            <a:avLst>
              <a:gd fmla="val 9412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 txBox="1"/>
          <p:nvPr/>
        </p:nvSpPr>
        <p:spPr>
          <a:xfrm>
            <a:off x="4297680" y="4690872"/>
            <a:ext cx="1490472" cy="4274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98324"/>
                </a:solidFill>
                <a:latin typeface="Cambria"/>
                <a:ea typeface="Cambria"/>
                <a:cs typeface="Cambria"/>
                <a:sym typeface="Cambria"/>
              </a:rPr>
              <a:t>99,8%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4297680" y="5084064"/>
            <a:ext cx="1490472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ll7_0.png" id="229" name="Google Shape;2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417320"/>
            <a:ext cx="557784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/>
          <p:nvPr/>
        </p:nvSpPr>
        <p:spPr>
          <a:xfrm>
            <a:off x="5989320" y="1417320"/>
            <a:ext cx="5577840" cy="3977640"/>
          </a:xfrm>
          <a:prstGeom prst="roundRect">
            <a:avLst>
              <a:gd fmla="val 920" name="adj"/>
            </a:avLst>
          </a:prstGeom>
          <a:noFill/>
          <a:ln cap="flat" cmpd="sng" w="12700">
            <a:solidFill>
              <a:srgbClr val="E7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VIDA DE PRATELEIRA E CINÉTICA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1234440" y="6400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Degradação de Vitamina C (25°C)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640080" y="14173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640080" y="169164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Modelagem da degradação da Vitamina C em suco de laranja armazenado a 25°C, assumindo cinética de degradação de primeira ordem: ln(C) = ln(C₀) − k·t.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640080" y="26060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Variáveis analisadas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640080" y="288036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Tempo de estocagem em dias (0 a 42, variável independente) e concentração de Vitamina C em mg/100 mL (variável dependente), medidas em 7 pontos no tempo.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640080" y="37947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Construção do gráfico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640080" y="40690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Dispersão dos dados experimentais sobreposta à curva do modelo cinético ajustado, com linha de referência do limite mínimo de especificação e do shelf-life estimado.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ll9_0.png" id="248" name="Google Shape;2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417320"/>
            <a:ext cx="5577840" cy="348386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5989320" y="1417320"/>
            <a:ext cx="5577840" cy="3483864"/>
          </a:xfrm>
          <a:prstGeom prst="roundRect">
            <a:avLst>
              <a:gd fmla="val 1050" name="adj"/>
            </a:avLst>
          </a:prstGeom>
          <a:noFill/>
          <a:ln cap="flat" cmpd="sng" w="12700">
            <a:solidFill>
              <a:srgbClr val="E7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VIDA DE PRATELEIRA E CINÉTICA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1234440" y="6400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Linearização e parâmetros do modelo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640080" y="14173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Transformação e regressão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640080" y="169164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A concentração foi transformada para ln(Vitamina C), linearizando a relação com o tempo. Uma regressão linear simples entre tempo e ln(concentração) fornece a inclinação (−k) e o intercepto (ln C₀).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640080" y="2926080"/>
            <a:ext cx="5029200" cy="658368"/>
          </a:xfrm>
          <a:prstGeom prst="roundRect">
            <a:avLst>
              <a:gd fmla="val 11111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 txBox="1"/>
          <p:nvPr/>
        </p:nvSpPr>
        <p:spPr>
          <a:xfrm>
            <a:off x="731520" y="2999232"/>
            <a:ext cx="4846320" cy="3621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45,76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731520" y="3321101"/>
            <a:ext cx="4846320" cy="25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C₀ estimado (mg/100mL)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640080" y="3675888"/>
            <a:ext cx="5029200" cy="658368"/>
          </a:xfrm>
          <a:prstGeom prst="roundRect">
            <a:avLst>
              <a:gd fmla="val 11111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 txBox="1"/>
          <p:nvPr/>
        </p:nvSpPr>
        <p:spPr>
          <a:xfrm>
            <a:off x="731520" y="3749040"/>
            <a:ext cx="4846320" cy="3621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0,0160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731520" y="4070909"/>
            <a:ext cx="4846320" cy="25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k (dia⁻¹)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40080" y="4425696"/>
            <a:ext cx="5029200" cy="658368"/>
          </a:xfrm>
          <a:prstGeom prst="roundRect">
            <a:avLst>
              <a:gd fmla="val 11111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731520" y="4498848"/>
            <a:ext cx="4846320" cy="3621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0,9981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731520" y="4820717"/>
            <a:ext cx="4846320" cy="25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640080" y="5175504"/>
            <a:ext cx="5029200" cy="658368"/>
          </a:xfrm>
          <a:prstGeom prst="roundRect">
            <a:avLst>
              <a:gd fmla="val 11111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731520" y="5248656"/>
            <a:ext cx="4846320" cy="3621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51,8 dias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731520" y="5570525"/>
            <a:ext cx="4846320" cy="25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Shelf-life estimado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ll12_0.png" id="275" name="Google Shape;2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417320"/>
            <a:ext cx="5577840" cy="348386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"/>
          <p:cNvSpPr/>
          <p:nvPr/>
        </p:nvSpPr>
        <p:spPr>
          <a:xfrm>
            <a:off x="5989320" y="1417320"/>
            <a:ext cx="5577840" cy="3483864"/>
          </a:xfrm>
          <a:prstGeom prst="roundRect">
            <a:avLst>
              <a:gd fmla="val 1050" name="adj"/>
            </a:avLst>
          </a:prstGeom>
          <a:noFill/>
          <a:ln cap="flat" cmpd="sng" w="12700">
            <a:solidFill>
              <a:srgbClr val="E7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 txBox="1"/>
          <p:nvPr/>
        </p:nvSpPr>
        <p:spPr>
          <a:xfrm>
            <a:off x="5989320" y="4956048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Ajuste excelente (R² ≈ 0,998): o produto atinge o limite mínimo de 20 mg/100mL em ~51,8 dias (≈ 7 semanas).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PLANEJAMENTO DE EXPERIMENTOS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1234440" y="6400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DOE fatorial 2³ — extração bioativa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640080" y="141732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Contexto e variáveis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640080" y="1691640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Otimização do rendimento (%) de extração bioativa de um extrato vegetal, avaliando 3 fatores em 2 níveis codificados (−1 / +1): Temperatura (40°C / 60°C), Tempo (15 min / 45 min) e pH (3,5 / 5,5) — 8 combinações experimentais. Ajustou-se um modelo de regressão múltipla com efeitos principais e interações duplas.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640080" y="251460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Tabela — Efeitos estimados no modelo de regressão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2" name="Google Shape;292;p13"/>
          <p:cNvGraphicFramePr/>
          <p:nvPr/>
        </p:nvGraphicFramePr>
        <p:xfrm>
          <a:off x="640080" y="2852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{CA01EDF9-063A-4456-B560-285E2E967854}</a:tableStyleId>
              </a:tblPr>
              <a:tblGrid>
                <a:gridCol w="2651750"/>
                <a:gridCol w="2286000"/>
                <a:gridCol w="2011675"/>
                <a:gridCol w="3931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6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Coeficiente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6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p-valor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6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Interpretação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62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Temperatura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+7,81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Efeito positivo significativo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+4,41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0,016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Efeito positivo significativo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−2,01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0,036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Efeito negativo significativo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 × Tempo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+1,61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0,044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Interação significativa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 × pH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 significativa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 × pH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 significativa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</a:tr>
            </a:tbl>
          </a:graphicData>
        </a:graphic>
      </p:graphicFrame>
      <p:sp>
        <p:nvSpPr>
          <p:cNvPr id="293" name="Google Shape;293;p13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A ANOVA do modelo confirma a significância de Temperatura, Tempo, pH e da interação Temp×Tempo (p &lt; 0,05); nenhuma visualização gráfica foi gerada nesta seção — os resultados são apresentados diretamente nas tabelas de regressão e ANOVA.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PRIORIZAÇÃO DA QUALIDADE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>
            <a:off x="1234440" y="6400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Diagrama de Pareto de defeitos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 txBox="1"/>
          <p:nvPr/>
        </p:nvSpPr>
        <p:spPr>
          <a:xfrm>
            <a:off x="640080" y="14173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640080" y="169164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Levantamento de defeitos no processo de embalagem: variação de peso, falha de selagem, desvio sensorial, rótulo danificado e outros.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>
            <a:off x="640080" y="24688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Variáveis analisadas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640080" y="2743200"/>
            <a:ext cx="5029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Tipo de defeito (categórica) e frequência de ocorrência (contagem), a partir das quais se calculam o percentual individual e o percentual acumulado, ordenados do mais para o menos frequente.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640080" y="3611880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 txBox="1"/>
          <p:nvPr/>
        </p:nvSpPr>
        <p:spPr>
          <a:xfrm>
            <a:off x="731520" y="3685032"/>
            <a:ext cx="4846320" cy="3118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98324"/>
                </a:solidFill>
                <a:latin typeface="Cambria"/>
                <a:ea typeface="Cambria"/>
                <a:cs typeface="Cambria"/>
                <a:sym typeface="Cambria"/>
              </a:rPr>
              <a:t>140 (40%)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 txBox="1"/>
          <p:nvPr/>
        </p:nvSpPr>
        <p:spPr>
          <a:xfrm>
            <a:off x="731520" y="3952037"/>
            <a:ext cx="4846320" cy="215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Variação de Peso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640080" y="4270248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 txBox="1"/>
          <p:nvPr/>
        </p:nvSpPr>
        <p:spPr>
          <a:xfrm>
            <a:off x="731520" y="4343400"/>
            <a:ext cx="4846320" cy="3118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98324"/>
                </a:solidFill>
                <a:latin typeface="Cambria"/>
                <a:ea typeface="Cambria"/>
                <a:cs typeface="Cambria"/>
                <a:sym typeface="Cambria"/>
              </a:rPr>
              <a:t>105 (30%)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731520" y="4610405"/>
            <a:ext cx="4846320" cy="215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Falha de Selagem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640080" y="4928616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E7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 txBox="1"/>
          <p:nvPr/>
        </p:nvSpPr>
        <p:spPr>
          <a:xfrm>
            <a:off x="731520" y="5001768"/>
            <a:ext cx="4846320" cy="3118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98324"/>
                </a:solidFill>
                <a:latin typeface="Cambria"/>
                <a:ea typeface="Cambria"/>
                <a:cs typeface="Cambria"/>
                <a:sym typeface="Cambria"/>
              </a:rPr>
              <a:t>70 (20%)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731520" y="5268773"/>
            <a:ext cx="4846320" cy="215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Desvio Sensorial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640080" y="5623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4620"/>
                </a:solidFill>
                <a:latin typeface="Calibri"/>
                <a:ea typeface="Calibri"/>
                <a:cs typeface="Calibri"/>
                <a:sym typeface="Calibri"/>
              </a:rPr>
              <a:t>Os 3 principais defeitos somam 90% das ocorrências — princípio 80/20.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ll16_0.png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417320"/>
            <a:ext cx="557784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989320" y="1417320"/>
            <a:ext cx="5577840" cy="2788920"/>
          </a:xfrm>
          <a:prstGeom prst="roundRect">
            <a:avLst>
              <a:gd fmla="val 1311" name="adj"/>
            </a:avLst>
          </a:prstGeom>
          <a:noFill/>
          <a:ln cap="flat" cmpd="sng" w="12700">
            <a:solidFill>
              <a:srgbClr val="E7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 txBox="1"/>
          <p:nvPr/>
        </p:nvSpPr>
        <p:spPr>
          <a:xfrm>
            <a:off x="5989320" y="4315968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Focar nesses três problemas elimina a maior parte das não conformidades do processo.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SÍNTESE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Conceitos estatísticos aplicados em cada análise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1" name="Google Shape;331;p15"/>
          <p:cNvGraphicFramePr/>
          <p:nvPr/>
        </p:nvGraphicFramePr>
        <p:xfrm>
          <a:off x="64008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{CA01EDF9-063A-4456-B560-285E2E967854}</a:tableStyleId>
              </a:tblPr>
              <a:tblGrid>
                <a:gridCol w="2377450"/>
                <a:gridCol w="5760725"/>
                <a:gridCol w="27432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Técnica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6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Conceito estatístico central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6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de dado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62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CEP / Cp, Cpk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Distribuição normal, limites de controle, capacidade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Quantitativo contínuo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Teste Triangular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Distribuição Binomial, teste de proporção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Categórico (acerto/erro)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ANOVA + Tukey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Comparação de médias, variância entre/dentro grupos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Quantitativo ordinal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Padronização, redução de dimensionalidade, variância explicada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Multivariado contínuo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Shelf-Life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Regressão linear, linearização (log), cinética de 1ª ordem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Quantitativo contínuo (série temporal)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 2³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Regressão múltipla, ANOVA de modelo, efeitos e interações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Fatorial codificado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3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Pareto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Frequência relativa, distribuição acumulada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42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224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Categórico (contagem)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2" name="Google Shape;332;p1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620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142F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 txBox="1"/>
          <p:nvPr/>
        </p:nvSpPr>
        <p:spPr>
          <a:xfrm>
            <a:off x="822960" y="553212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B96B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8FB96B"/>
                </a:solidFill>
                <a:latin typeface="Cambria"/>
                <a:ea typeface="Cambria"/>
                <a:cs typeface="Cambria"/>
                <a:sym typeface="Cambria"/>
              </a:rPr>
              <a:t>“A estatística transforma dados simulados em decisões de qualidade fundamentadas.”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9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B96B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822960" y="96012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Python como ferramenta de análise estatística aplicada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761410" y="2116636"/>
            <a:ext cx="109800" cy="109800"/>
          </a:xfrm>
          <a:prstGeom prst="ellipse">
            <a:avLst/>
          </a:prstGeom>
          <a:solidFill>
            <a:srgbClr val="D98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1081450" y="1988620"/>
            <a:ext cx="9875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técnica foi escolhida conforme a natureza da variável e a pergunta de pesquisa — controle de processo, discriminação sensorial, comparação de médias, redução de dimensionalidade, cinética ou priorização de defeitos.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761410" y="3012748"/>
            <a:ext cx="109800" cy="109800"/>
          </a:xfrm>
          <a:prstGeom prst="ellipse">
            <a:avLst/>
          </a:prstGeom>
          <a:solidFill>
            <a:srgbClr val="D98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"/>
          <p:cNvSpPr txBox="1"/>
          <p:nvPr/>
        </p:nvSpPr>
        <p:spPr>
          <a:xfrm>
            <a:off x="1081450" y="2884732"/>
            <a:ext cx="9875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Gráficos (matplotlib/seaborn) tornam os resultados estatísticos interpretáveis e comunicáveis, complementando as tabelas numéricas.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"/>
          <p:cNvSpPr txBox="1"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620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4620"/>
                </a:solidFill>
                <a:latin typeface="Cambria"/>
                <a:ea typeface="Cambria"/>
                <a:cs typeface="Cambria"/>
                <a:sym typeface="Cambria"/>
              </a:rPr>
              <a:t>Referências (ABNT NBR 6023)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640080" y="1444752"/>
            <a:ext cx="82296" cy="82296"/>
          </a:xfrm>
          <a:prstGeom prst="ellipse">
            <a:avLst/>
          </a:prstGeom>
          <a:solidFill>
            <a:srgbClr val="5C8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7"/>
          <p:cNvSpPr txBox="1"/>
          <p:nvPr/>
        </p:nvSpPr>
        <p:spPr>
          <a:xfrm>
            <a:off x="914400" y="1316736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MONTGOMERY, Douglas C. Introdução ao controle estatístico da qualidade. 7. ed. Rio de Janeiro: LTC, 2016.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640080" y="2103120"/>
            <a:ext cx="82296" cy="82296"/>
          </a:xfrm>
          <a:prstGeom prst="ellipse">
            <a:avLst/>
          </a:prstGeom>
          <a:solidFill>
            <a:srgbClr val="5C8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 txBox="1"/>
          <p:nvPr/>
        </p:nvSpPr>
        <p:spPr>
          <a:xfrm>
            <a:off x="914400" y="1975104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ASSOCIAÇÃO BRASILEIRA DE NORMAS TÉCNICAS. ABNT NBR ISO 4120: Análise sensorial — Metodologia — Teste triangular. Rio de Janeiro: ABNT, 2022.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640080" y="2761488"/>
            <a:ext cx="82296" cy="82296"/>
          </a:xfrm>
          <a:prstGeom prst="ellipse">
            <a:avLst/>
          </a:prstGeom>
          <a:solidFill>
            <a:srgbClr val="5C8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"/>
          <p:cNvSpPr txBox="1"/>
          <p:nvPr/>
        </p:nvSpPr>
        <p:spPr>
          <a:xfrm>
            <a:off x="914400" y="2633472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NAES, Tormod; BRO, Rasmus; WESTAD, Frank. Multi- and Megavariate Data Analysis: Principles and Applications. 2. ed. Chichester: John Wiley &amp; Sons, 2002.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640080" y="3419856"/>
            <a:ext cx="82296" cy="82296"/>
          </a:xfrm>
          <a:prstGeom prst="ellipse">
            <a:avLst/>
          </a:prstGeom>
          <a:solidFill>
            <a:srgbClr val="5C8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7"/>
          <p:cNvSpPr txBox="1"/>
          <p:nvPr/>
        </p:nvSpPr>
        <p:spPr>
          <a:xfrm>
            <a:off x="914400" y="32918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STONE, Herbert; BLEIBAUM, Rebecca N.; THOMAS, Heather A. Sensory Evaluation Practices. 4. ed. San Diego: Academic Press, 2012.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640080" y="4078224"/>
            <a:ext cx="82296" cy="82296"/>
          </a:xfrm>
          <a:prstGeom prst="ellipse">
            <a:avLst/>
          </a:prstGeom>
          <a:solidFill>
            <a:srgbClr val="5C8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 txBox="1"/>
          <p:nvPr/>
        </p:nvSpPr>
        <p:spPr>
          <a:xfrm>
            <a:off x="914400" y="395020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MAN, D. M. D. Shelf Life: Food Industry Briefing Series. 2. ed. Oxford: Wiley-Blackwell, 2016.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640080" y="4736592"/>
            <a:ext cx="82296" cy="82296"/>
          </a:xfrm>
          <a:prstGeom prst="ellipse">
            <a:avLst/>
          </a:prstGeom>
          <a:solidFill>
            <a:srgbClr val="5C8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7"/>
          <p:cNvSpPr txBox="1"/>
          <p:nvPr/>
        </p:nvSpPr>
        <p:spPr>
          <a:xfrm>
            <a:off x="914400" y="4608576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SINGH, R. Paul; HELDMAN, Dennis R. Introduction to Food Engineering. 5. ed. San Diego: Academic Press, 2014.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640080" y="5394960"/>
            <a:ext cx="82296" cy="82296"/>
          </a:xfrm>
          <a:prstGeom prst="ellipse">
            <a:avLst/>
          </a:prstGeom>
          <a:solidFill>
            <a:srgbClr val="5C8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"/>
          <p:cNvSpPr txBox="1"/>
          <p:nvPr/>
        </p:nvSpPr>
        <p:spPr>
          <a:xfrm>
            <a:off x="914400" y="5266944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4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420"/>
                </a:solidFill>
                <a:latin typeface="Calibri"/>
                <a:ea typeface="Calibri"/>
                <a:cs typeface="Calibri"/>
                <a:sym typeface="Calibri"/>
              </a:rPr>
              <a:t>BOX, George E. P.; HUNTER, J. Stuart; HUNTER, William G. Statistics for Experimenters: Design, Innovation, and Discovery. 2. ed. Hoboken: Wiley-Interscience, 2005.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Seminário 01 · LCE0212 · Ciência dos Alimentos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6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